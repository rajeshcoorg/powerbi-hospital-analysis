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65" r:id="rId5"/>
    <p:sldId id="278" r:id="rId6"/>
    <p:sldId id="261" r:id="rId7"/>
    <p:sldId id="266" r:id="rId8"/>
    <p:sldId id="282" r:id="rId9"/>
    <p:sldId id="267" r:id="rId10"/>
    <p:sldId id="268" r:id="rId11"/>
    <p:sldId id="272" r:id="rId12"/>
    <p:sldId id="270" r:id="rId13"/>
    <p:sldId id="271" r:id="rId14"/>
    <p:sldId id="273" r:id="rId15"/>
    <p:sldId id="269" r:id="rId16"/>
    <p:sldId id="274" r:id="rId17"/>
    <p:sldId id="275" r:id="rId18"/>
    <p:sldId id="277" r:id="rId19"/>
    <p:sldId id="279" r:id="rId20"/>
    <p:sldId id="280" r:id="rId21"/>
    <p:sldId id="264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7T20:20:19"/>
    </inkml:context>
    <inkml:brush xml:id="br0">
      <inkml:brushProperty name="width" value="0.025" units="cm"/>
      <inkml:brushProperty name="height" value="0.025" units="cm"/>
      <inkml:brushProperty name="color" value="#000000"/>
    </inkml:brush>
  </inkml:definitions>
  <inkml:trace contextRef="#ctx0" brushRef="#br0">188.000 1.000 24575,'0.000'867.000'0,"0.000"-853.000"0,-1.000-1.000 0,0.000 1.000 0,-1.000-1.000 0,-1.000 1.000 0,0.000-1.000 0,0.000 0.000 0,-1.000 0.000 0,-1.000 0.000 0,0.000 0.000 0,-1.000-1.000 0,0.000 0.000 0,-1.000 0.000 0,-1.000 0.000 0,0.000-1.000 0,0.000-1.000 0,-19.000 20.000 0,-10.000 18.000 106,31.000-38.000-473,-1.000-1.000-1,-1.000 1.000 0,-13.000 13.000 0,9.000-13.000-6458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7T20:20:22"/>
    </inkml:context>
    <inkml:brush xml:id="br0">
      <inkml:brushProperty name="width" value="0.025" units="cm"/>
      <inkml:brushProperty name="height" value="0.025" units="cm"/>
      <inkml:brushProperty name="color" value="#000000"/>
    </inkml:brush>
  </inkml:definitions>
  <inkml:trace contextRef="#ctx0" brushRef="#br0">0.000 1.000 24575,'0.000'0.000'-8191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image" Target="../media/image4.png"/><Relationship Id="rId21" Type="http://schemas.openxmlformats.org/officeDocument/2006/relationships/image" Target="../media/image3.png"/><Relationship Id="rId20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DE5A91D-DE0C-46EB-B53E-C4E9DB612B8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DF3D1-DDC2-4680-BA8F-48083D3B57C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jpeg"/><Relationship Id="rId4" Type="http://schemas.openxmlformats.org/officeDocument/2006/relationships/image" Target="../media/image11.png"/><Relationship Id="rId3" Type="http://schemas.openxmlformats.org/officeDocument/2006/relationships/customXml" Target="../ink/ink2.xml"/><Relationship Id="rId2" Type="http://schemas.openxmlformats.org/officeDocument/2006/relationships/image" Target="../media/image10.png"/><Relationship Id="rId1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396" y="413558"/>
            <a:ext cx="6914053" cy="383699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160020" y="4721890"/>
            <a:ext cx="61127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Title: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Columbia Asia Hospital project.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Prepared by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Rajesh m.m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1882" y="251926"/>
            <a:ext cx="6808236" cy="645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j-lt"/>
                <a:cs typeface="+mj-lt"/>
              </a:rPr>
              <a:t>Content Overview</a:t>
            </a:r>
            <a:endParaRPr lang="en-US" sz="3600" b="1" dirty="0"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0810" y="1348533"/>
            <a:ext cx="6133375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mbria" panose="02040503050406030204" pitchFamily="18" charset="0"/>
                <a:ea typeface="Calibri" panose="020F0502020204030204" charset="0"/>
                <a:cs typeface="Cambria" panose="02040503050406030204" pitchFamily="18" charset="0"/>
                <a:sym typeface="+mn-ea"/>
              </a:rPr>
              <a:t>DATABASE SCHEMA</a:t>
            </a: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mbria" panose="02040503050406030204" pitchFamily="18" charset="0"/>
                <a:ea typeface="Calibri" panose="020F0502020204030204" charset="0"/>
                <a:cs typeface="Cambria" panose="02040503050406030204" pitchFamily="18" charset="0"/>
                <a:sym typeface="+mn-ea"/>
              </a:rPr>
              <a:t>INTRODUCTION</a:t>
            </a: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mbria" panose="02040503050406030204" pitchFamily="18" charset="0"/>
                <a:ea typeface="Calibri" panose="020F0502020204030204" charset="0"/>
                <a:cs typeface="Cambria" panose="02040503050406030204" pitchFamily="18" charset="0"/>
                <a:sym typeface="+mn-ea"/>
              </a:rPr>
              <a:t>OBJECTIVES WITH PROBLEM STATEMENT</a:t>
            </a: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mbria" panose="02040503050406030204" pitchFamily="18" charset="0"/>
                <a:ea typeface="Calibri" panose="020F0502020204030204" charset="0"/>
                <a:cs typeface="Cambria" panose="02040503050406030204" pitchFamily="18" charset="0"/>
                <a:sym typeface="+mn-ea"/>
              </a:rPr>
              <a:t>DATA OVERVIEW</a:t>
            </a: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mbria" panose="02040503050406030204" pitchFamily="18" charset="0"/>
                <a:ea typeface="Calibri" panose="020F0502020204030204" charset="0"/>
                <a:cs typeface="Cambria" panose="02040503050406030204" pitchFamily="18" charset="0"/>
                <a:sym typeface="+mn-ea"/>
              </a:rPr>
              <a:t>METHODOLOGY</a:t>
            </a: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mbria" panose="02040503050406030204" pitchFamily="18" charset="0"/>
                <a:ea typeface="Calibri" panose="020F0502020204030204" charset="0"/>
                <a:cs typeface="Cambria" panose="02040503050406030204" pitchFamily="18" charset="0"/>
                <a:sym typeface="+mn-ea"/>
              </a:rPr>
              <a:t>ANALYSIS AND KEY FINDING</a:t>
            </a: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mbria" panose="02040503050406030204" pitchFamily="18" charset="0"/>
                <a:ea typeface="Calibri" panose="020F0502020204030204" charset="0"/>
                <a:cs typeface="Cambria" panose="02040503050406030204" pitchFamily="18" charset="0"/>
                <a:sym typeface="+mn-ea"/>
              </a:rPr>
              <a:t>STRATEGIC RECOMMENDATIONS</a:t>
            </a: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latin typeface="Cambria" panose="02040503050406030204" pitchFamily="18" charset="0"/>
              <a:ea typeface="Calibri" panose="020F0502020204030204" charset="0"/>
              <a:cs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Cambria" panose="02040503050406030204" pitchFamily="18" charset="0"/>
                <a:ea typeface="Calibri" panose="020F0502020204030204" charset="0"/>
                <a:cs typeface="Cambria" panose="02040503050406030204" pitchFamily="18" charset="0"/>
                <a:sym typeface="+mn-ea"/>
              </a:rPr>
              <a:t>CONCLUSION</a:t>
            </a:r>
            <a:endParaRPr lang="en-US" sz="2000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649" y="2388637"/>
            <a:ext cx="3832453" cy="421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7788" y="1945427"/>
            <a:ext cx="109261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Columbia Asia Hospital is committed to delivering quality healthcare while optimizing its operations. In this project, I analyze hospital data to uncover insights on revenue generation, patient satisfaction, and departmental efficiency. By understanding key metrics, I aim to provide actionable recommendations that can enhance patient experience and improve the hospital’s overall performance.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Key Focus Areas: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Assessing the hospital's revenue streams and identifying high-revenue departments.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Analyzing patient satisfaction scores across demographics and departments.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Identifying departments with high patient volume for potential staffing needs.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Developing strategies for targeted patient discounts to improve satisfaction and loyalty.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41275" y="278639"/>
            <a:ext cx="500888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Introduction</a:t>
            </a:r>
            <a:endParaRPr lang="en-IN" sz="3600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01290" y="293499"/>
            <a:ext cx="8808098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Objectives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39757" y="1767164"/>
            <a:ext cx="1021702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analyze the hospital’s revenue streams and identify departments that contribute most to overall income.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evaluate patient satisfaction scores across demographics and departments to understand key drivers of patient experience.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assess departmental demand and identify potential areas for staffing improvements.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provide actionable strategies and recommendations for targeted discounts and improved patient engagement.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82817" y="534405"/>
            <a:ext cx="8808098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Problem Statement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5069" y="2403344"/>
            <a:ext cx="9619861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Columbia Asia Hospital is focused on optimizing its operational performance and enhancing patient satisfaction. The hospital seeks a comprehensive analysis to identify revenue-driving departments, understand patient demographics, and evaluate patient satisfaction across various age and racial groups. Additionally, assessing patient wait times, discount eligibility, and department-wise demand is crucial for creating effective strategies to improve patient engagement and streamline hospital services.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6935" y="92027"/>
            <a:ext cx="5008880" cy="691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Data</a:t>
            </a:r>
            <a:r>
              <a:rPr lang="en-IN" sz="3600" b="1" dirty="0">
                <a:solidFill>
                  <a:srgbClr val="FF0000"/>
                </a:solidFill>
                <a:latin typeface="+mj-lt"/>
                <a:cs typeface="+mj-lt"/>
              </a:rPr>
              <a:t> </a:t>
            </a:r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Overview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7"/>
          <p:cNvSpPr txBox="1"/>
          <p:nvPr/>
        </p:nvSpPr>
        <p:spPr>
          <a:xfrm>
            <a:off x="2771140" y="972820"/>
            <a:ext cx="6360795" cy="5539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Date: </a:t>
            </a:r>
            <a:r>
              <a:rPr lang="en-US" sz="2000" dirty="0">
                <a:solidFill>
                  <a:srgbClr val="000000"/>
                </a:solidFill>
                <a:latin typeface="+mj-lt"/>
                <a:cs typeface="+mj-lt"/>
              </a:rPr>
              <a:t>This column contains date and time information without specifying AM or PM. The format is DD-MM-YYYY HH:MM.</a:t>
            </a:r>
            <a:endParaRPr lang="en-US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Patient ID: </a:t>
            </a:r>
            <a:r>
              <a:rPr lang="en-US" sz="2000" dirty="0">
                <a:solidFill>
                  <a:srgbClr val="000000"/>
                </a:solidFill>
                <a:latin typeface="+mj-lt"/>
                <a:cs typeface="+mj-lt"/>
              </a:rPr>
              <a:t>Each patient is assigned a unique identifier, which seems to be in the format 124-62-3289.</a:t>
            </a:r>
            <a:endParaRPr lang="en-US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Patient Gender: </a:t>
            </a:r>
            <a:r>
              <a:rPr lang="en-US" sz="2000" dirty="0">
                <a:solidFill>
                  <a:srgbClr val="000000"/>
                </a:solidFill>
                <a:latin typeface="+mj-lt"/>
                <a:cs typeface="+mj-lt"/>
              </a:rPr>
              <a:t>This column records the gender of the patient, denoted by 'M' for male and 'F' for female.</a:t>
            </a:r>
            <a:endParaRPr lang="en-GB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Patient Age: </a:t>
            </a:r>
            <a:r>
              <a:rPr lang="en-US" sz="2000" dirty="0">
                <a:solidFill>
                  <a:srgbClr val="000000"/>
                </a:solidFill>
                <a:latin typeface="+mj-lt"/>
                <a:cs typeface="+mj-lt"/>
              </a:rPr>
              <a:t>The age of the patients is listed in years.</a:t>
            </a:r>
            <a:endParaRPr lang="en-GB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Patient Sat Score: </a:t>
            </a:r>
            <a:r>
              <a:rPr lang="en-US" sz="2000" dirty="0">
                <a:solidFill>
                  <a:srgbClr val="000000"/>
                </a:solidFill>
                <a:latin typeface="+mj-lt"/>
                <a:cs typeface="+mj-lt"/>
              </a:rPr>
              <a:t>It seems to represent a satisfaction score given by or for the patient. However, the scores are single-digit, and it's not clear what the scale is.</a:t>
            </a:r>
            <a:endParaRPr lang="en-GB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Patient First Initial: </a:t>
            </a:r>
            <a:r>
              <a:rPr lang="en-US" sz="2000" dirty="0">
                <a:solidFill>
                  <a:srgbClr val="000000"/>
                </a:solidFill>
                <a:latin typeface="+mj-lt"/>
                <a:cs typeface="+mj-lt"/>
              </a:rPr>
              <a:t>This column contains the first initial of the patient's first name.</a:t>
            </a:r>
            <a:endParaRPr lang="en-GB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Patient Last Name: </a:t>
            </a:r>
            <a:r>
              <a:rPr lang="en-US" sz="2000" dirty="0">
                <a:solidFill>
                  <a:srgbClr val="000000"/>
                </a:solidFill>
                <a:latin typeface="+mj-lt"/>
                <a:cs typeface="+mj-lt"/>
              </a:rPr>
              <a:t>The surname of the patient is listed in this column.</a:t>
            </a:r>
            <a:endParaRPr lang="en-US" sz="2000" dirty="0">
              <a:solidFill>
                <a:srgbClr val="000000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44925" y="294640"/>
            <a:ext cx="6348730" cy="1400810"/>
          </a:xfrm>
        </p:spPr>
        <p:txBody>
          <a:bodyPr/>
          <a:p>
            <a:r>
              <a:rPr lang="en-IN" sz="3600" b="1" dirty="0">
                <a:solidFill>
                  <a:schemeClr val="tx1"/>
                </a:solidFill>
                <a:cs typeface="+mj-lt"/>
                <a:sym typeface="+mn-ea"/>
              </a:rPr>
              <a:t>Data</a:t>
            </a:r>
            <a:r>
              <a:rPr lang="en-IN" sz="3600" b="1" dirty="0">
                <a:solidFill>
                  <a:srgbClr val="FF0000"/>
                </a:solidFill>
                <a:cs typeface="+mj-lt"/>
                <a:sym typeface="+mn-ea"/>
              </a:rPr>
              <a:t> </a:t>
            </a:r>
            <a:r>
              <a:rPr lang="en-IN" sz="3600" b="1" dirty="0">
                <a:solidFill>
                  <a:schemeClr val="tx1"/>
                </a:solidFill>
                <a:cs typeface="+mj-lt"/>
                <a:sym typeface="+mn-ea"/>
              </a:rPr>
              <a:t>Overview</a:t>
            </a:r>
            <a:endParaRPr lang="en-US" sz="3600"/>
          </a:p>
        </p:txBody>
      </p:sp>
      <p:sp>
        <p:nvSpPr>
          <p:cNvPr id="35" name="TextBox 7"/>
          <p:cNvSpPr txBox="1"/>
          <p:nvPr/>
        </p:nvSpPr>
        <p:spPr>
          <a:xfrm>
            <a:off x="2418831" y="1114351"/>
            <a:ext cx="7354259" cy="5247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Patient Race: </a:t>
            </a:r>
            <a:r>
              <a:rPr lang="en-GB" sz="2000" dirty="0">
                <a:solidFill>
                  <a:srgbClr val="000000"/>
                </a:solidFill>
                <a:latin typeface="+mj-lt"/>
                <a:cs typeface="+mj-lt"/>
              </a:rPr>
              <a:t>The racial or ethnic background of the patient is recorded here, with categories such as 'White', 'African American', 'Asian', 'Native American/Alaska Native', and 'Two or More Races’.</a:t>
            </a:r>
            <a:endParaRPr lang="en-US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Patient Admin Flag: </a:t>
            </a:r>
            <a:r>
              <a:rPr lang="en-GB" sz="2000" dirty="0">
                <a:solidFill>
                  <a:srgbClr val="000000"/>
                </a:solidFill>
                <a:latin typeface="+mj-lt"/>
                <a:cs typeface="+mj-lt"/>
              </a:rPr>
              <a:t>This column contains </a:t>
            </a:r>
            <a:r>
              <a:rPr lang="en-GB" sz="2000" dirty="0" err="1">
                <a:solidFill>
                  <a:srgbClr val="000000"/>
                </a:solidFill>
                <a:latin typeface="+mj-lt"/>
                <a:cs typeface="+mj-lt"/>
              </a:rPr>
              <a:t>boolean</a:t>
            </a:r>
            <a:r>
              <a:rPr lang="en-GB" sz="2000" dirty="0">
                <a:solidFill>
                  <a:srgbClr val="000000"/>
                </a:solidFill>
                <a:latin typeface="+mj-lt"/>
                <a:cs typeface="+mj-lt"/>
              </a:rPr>
              <a:t> values ('TRUE' or 'FALSE') which might indicate whether the patient was admitted or some other administrative flag.</a:t>
            </a:r>
            <a:endParaRPr lang="en-GB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Patient Wait Time: </a:t>
            </a:r>
            <a:r>
              <a:rPr lang="en-GB" sz="2000" dirty="0">
                <a:solidFill>
                  <a:srgbClr val="000000"/>
                </a:solidFill>
                <a:latin typeface="+mj-lt"/>
                <a:cs typeface="+mj-lt"/>
              </a:rPr>
              <a:t>Appears to indicate the time the patient waited, possibly in minutes, before being seen or processed.</a:t>
            </a:r>
            <a:endParaRPr lang="en-GB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Department Referral: </a:t>
            </a:r>
            <a:r>
              <a:rPr lang="en-GB" sz="2000" dirty="0">
                <a:solidFill>
                  <a:srgbClr val="000000"/>
                </a:solidFill>
                <a:latin typeface="+mj-lt"/>
                <a:cs typeface="+mj-lt"/>
              </a:rPr>
              <a:t>This column lists the department to which the patient was referred, with entries such as 'General Practice', 'Orthopaedics', 'Gastroenterology', or 'None' indicating no referral.</a:t>
            </a:r>
            <a:endParaRPr lang="en-GB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Doctor Name: </a:t>
            </a:r>
            <a:r>
              <a:rPr lang="en-GB" sz="2000" dirty="0">
                <a:solidFill>
                  <a:srgbClr val="000000"/>
                </a:solidFill>
                <a:latin typeface="+mj-lt"/>
                <a:cs typeface="+mj-lt"/>
              </a:rPr>
              <a:t>Identifies the doctor who attended each patient.</a:t>
            </a:r>
            <a:endParaRPr lang="en-GB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Appointment Fees: </a:t>
            </a:r>
            <a:r>
              <a:rPr lang="en-GB" sz="2000" dirty="0">
                <a:solidFill>
                  <a:srgbClr val="000000"/>
                </a:solidFill>
                <a:latin typeface="+mj-lt"/>
                <a:cs typeface="+mj-lt"/>
              </a:rPr>
              <a:t>The cost charged for a doctor's consultation.</a:t>
            </a:r>
            <a:endParaRPr lang="en-GB" sz="2000" dirty="0">
              <a:solidFill>
                <a:srgbClr val="000000"/>
              </a:solidFill>
              <a:latin typeface="+mj-lt"/>
              <a:cs typeface="+mj-lt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Total Bill: </a:t>
            </a:r>
            <a:r>
              <a:rPr lang="en-GB" sz="2000" dirty="0">
                <a:solidFill>
                  <a:srgbClr val="000000"/>
                </a:solidFill>
                <a:latin typeface="+mj-lt"/>
                <a:cs typeface="+mj-lt"/>
              </a:rPr>
              <a:t>The overall amount billed to the patient, including all services and charges</a:t>
            </a:r>
            <a:r>
              <a:rPr lang="en-GB" sz="2100" dirty="0">
                <a:solidFill>
                  <a:srgbClr val="000000"/>
                </a:solidFill>
                <a:latin typeface="Alatsi" panose="00000500000000000000"/>
              </a:rPr>
              <a:t>.</a:t>
            </a:r>
            <a:endParaRPr lang="en-GB" sz="2100" dirty="0">
              <a:solidFill>
                <a:srgbClr val="000000"/>
              </a:solidFill>
              <a:latin typeface="Alatsi" panose="00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58516" y="214604"/>
            <a:ext cx="5008880" cy="785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Methodology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5470" y="1287658"/>
            <a:ext cx="5008880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2: Patient and Department Analysis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Analyzing patient satisfaction by demographics like age, race, and department.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Evaluating departmental performance based on revenue, patient volume, and wait times.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723" y="1494424"/>
            <a:ext cx="5121053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1: Data Extraction and Preprocessing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Extracting and cleaning data using Excel and SQL to aggregate metrics on patient demographics, billing, department referrals, and satisfaction scores.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1887" y="4246365"/>
            <a:ext cx="5399326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3: Financial and Operational Insights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Assessing revenue contributions by department and identifying high-demand areas for staffing needs.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Examining correlations between wait times and satisfaction scores to pinpoint experience factors.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19938" y="4309639"/>
            <a:ext cx="5164489" cy="22467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4: Recommendations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Providing targeted discount and staffing recommendations to improve patient satisfaction and operational efficiency.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Suggesting patient engagement initiatives based on satisfaction scores to foster loyalty.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86735" y="191770"/>
            <a:ext cx="6018530" cy="443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+mj-lt"/>
                <a:cs typeface="+mj-lt"/>
              </a:rPr>
              <a:t>Analysis &amp; Key finding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3803" y="1094869"/>
            <a:ext cx="6638211" cy="5525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+mj-lt"/>
              </a:rPr>
              <a:t>Revenue by Department</a:t>
            </a:r>
            <a:endParaRPr lang="en-US" sz="2000" b="1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+mj-lt"/>
            </a:endParaRPr>
          </a:p>
          <a:p>
            <a:endParaRPr lang="en-US" sz="2000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+mj-lt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+mj-lt"/>
              </a:rPr>
              <a:t>Objective:</a:t>
            </a:r>
            <a:endParaRPr lang="en-US" sz="2000" b="1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+mj-lt"/>
              </a:rPr>
              <a:t>Identify the top revenue-generating departments to understand which areas contribute the most to hospital income.</a:t>
            </a:r>
            <a:endParaRPr lang="en-US" sz="2000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+mj-lt"/>
            </a:endParaRPr>
          </a:p>
          <a:p>
            <a:endParaRPr lang="en-US" sz="2000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+mj-lt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+mj-lt"/>
              </a:rPr>
              <a:t>Analysis:</a:t>
            </a:r>
            <a:endParaRPr lang="en-US" sz="2000" b="1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+mj-lt"/>
              </a:rPr>
              <a:t>Orthopedics and General Practice emerged as the leading departments in terms of total revenue generated, highlighting key areas of financial strength for the hospital.</a:t>
            </a:r>
            <a:endParaRPr lang="en-US" sz="2000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+mj-lt"/>
            </a:endParaRPr>
          </a:p>
          <a:p>
            <a:endParaRPr lang="en-US" sz="2000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+mj-lt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+mj-lt"/>
              </a:rPr>
              <a:t>Insights:</a:t>
            </a:r>
            <a:endParaRPr lang="en-US" sz="2000" b="1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+mj-lt"/>
              </a:rPr>
              <a:t>These high-revenue departments offer potential for targeted investment to further boost income. Expanding services or resources in these departments could support growth and increase patient intake.</a:t>
            </a:r>
            <a:endParaRPr lang="en-US" sz="2000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+mj-lt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350" y="1567180"/>
            <a:ext cx="4700270" cy="50533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350" y="1179906"/>
            <a:ext cx="6708722" cy="5605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 startAt="2"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Patient Satisfaction score by Race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Analyze patient satisfaction scores by age and racial demographics to identify groups with varying satisfaction levels.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Analysis: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analysis revealed that specific age and racial groups exhibited distinct satisfaction levels, suggesting varying needs and experiences across demographics.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Insights: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Targeting improvement efforts toward lower-satisfaction demographics may enhance patient experience and foster a more positive perception among diverse patient groups.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86735" y="214630"/>
            <a:ext cx="6018530" cy="363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+mj-lt"/>
                <a:cs typeface="+mj-lt"/>
              </a:rPr>
              <a:t>Analysis &amp; Key finding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4" name="Ink 13"/>
              <p14:cNvContentPartPr/>
              <p14:nvPr/>
            </p14:nvContentPartPr>
            <p14:xfrm>
              <a:off x="10457008" y="3591713"/>
              <a:ext cx="68040" cy="435600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2"/>
            </p:blipFill>
            <p:spPr>
              <a:xfrm>
                <a:off x="10457008" y="3591713"/>
                <a:ext cx="68040" cy="435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5" name="Ink 14"/>
              <p14:cNvContentPartPr/>
              <p14:nvPr/>
            </p14:nvContentPartPr>
            <p14:xfrm>
              <a:off x="12885568" y="3965033"/>
              <a:ext cx="360" cy="360"/>
            </p14:xfrm>
          </p:contentPart>
        </mc:Choice>
        <mc:Fallback xmlns="">
          <p:pic>
            <p:nvPicPr>
              <p:cNvPr id="15" name="Ink 14"/>
            </p:nvPicPr>
            <p:blipFill>
              <a:blip r:embed="rId4"/>
            </p:blipFill>
            <p:spPr>
              <a:xfrm>
                <a:off x="12885568" y="3965033"/>
                <a:ext cx="360" cy="360"/>
              </a:xfrm>
              <a:prstGeom prst="rect"/>
            </p:spPr>
          </p:pic>
        </mc:Fallback>
      </mc:AlternateContent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d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2472690"/>
            <a:ext cx="4811395" cy="3609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858" y="1170575"/>
            <a:ext cx="6532560" cy="5487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 startAt="3"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Departmental Patient Volume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Evaluate patient volume by department to identify high-demand areas that may require additional resources.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Analysis: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General Practice and Orthopedics had the highest patient volume, indicating these departments are essential for patient care and could benefit from increased staffing.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Insights: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Prioritizing these departments for staffing and resource allocation could help manage demand and improve patient flow.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86735" y="163195"/>
            <a:ext cx="6018530" cy="6203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+mj-lt"/>
                <a:cs typeface="+mj-lt"/>
              </a:rPr>
              <a:t>Analysis &amp; Key finding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d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835" y="2259330"/>
            <a:ext cx="4406265" cy="37503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803" y="1110343"/>
            <a:ext cx="6348963" cy="5607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 startAt="4"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Wait Time Impact on Satisfaction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Determine the impact of patient wait times on satisfaction to understand how operational efficiency affects patient experience.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Analysis: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negative correlation was observed between wait times and satisfaction scores, with longer waits leading to lower satisfaction.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Insights: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Efforts to reduce wait times, especially in high-demand departments, could significantly improve patient satisfaction. Additionally, implementing efficient scheduling or queue management systems could help reduce congestion during peak hours.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86735" y="238125"/>
            <a:ext cx="6018530" cy="371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+mj-lt"/>
                <a:cs typeface="+mj-lt"/>
              </a:rPr>
              <a:t>Analysis &amp; Key finding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d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190" y="2157095"/>
            <a:ext cx="4737100" cy="41935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803" y="1073020"/>
            <a:ext cx="6348963" cy="56450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 startAt="5"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Discount Distribution and Eligibility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Analyze the relationship between discount levels and patient satisfaction to assess the effectiveness of discounts on patient experience.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Analysis: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Patients receiving medium and high-level discounts reported better satisfaction scores, indicating that targeted discounts can positively influence patient satisfaction.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Insights: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Implementing targeted discount strategies for eligible patients may enhance loyalty and satisfaction, especially among cost-sensitive patients. 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86735" y="182245"/>
            <a:ext cx="6018530" cy="601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+mj-lt"/>
                <a:cs typeface="+mj-lt"/>
              </a:rPr>
              <a:t>Analysis &amp; Key finding</a:t>
            </a:r>
            <a:endParaRPr lang="en-US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185" y="2050415"/>
            <a:ext cx="4012565" cy="41840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72611" y="187518"/>
            <a:ext cx="705394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Strategic Recommendations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8525" y="1594591"/>
            <a:ext cx="10561516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 dirty="0"/>
              <a:t>Enhance High-Demand Department Efficiency</a:t>
            </a:r>
            <a:endParaRPr lang="en-US" sz="2000" b="1" dirty="0"/>
          </a:p>
          <a:p>
            <a:pPr marL="457200" indent="-457200">
              <a:buAutoNum type="arabicPeriod"/>
            </a:pPr>
            <a:endParaRPr lang="en-US" sz="2000" dirty="0"/>
          </a:p>
          <a:p>
            <a:r>
              <a:rPr lang="en-US" sz="2000" b="1" dirty="0"/>
              <a:t>Insight:</a:t>
            </a:r>
            <a:br>
              <a:rPr lang="en-US" sz="2000" dirty="0"/>
            </a:br>
            <a:r>
              <a:rPr lang="en-US" sz="2000" dirty="0"/>
              <a:t>High patient volume in departments like General Practice and Orthopedics indicates potential bottlenecks and increased wait times, impacting patient satisfaction.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Recommendation: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Prioritize hiring additional staff in high-demand departments to manage patient influx effectively.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Implement streamlined scheduling and queue management systems to reduce patient wait times and enhance service efficiency.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72611" y="187518"/>
            <a:ext cx="705394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Strategic Recommendations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78865" y="1557269"/>
            <a:ext cx="10561516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2. Tailored Patient Satisfaction Initiatives</a:t>
            </a:r>
            <a:endParaRPr lang="en-US" sz="2000" b="1" dirty="0"/>
          </a:p>
          <a:p>
            <a:endParaRPr lang="en-US" sz="2000" dirty="0"/>
          </a:p>
          <a:p>
            <a:r>
              <a:rPr lang="en-US" sz="2000" b="1" dirty="0"/>
              <a:t>Insight:</a:t>
            </a:r>
            <a:br>
              <a:rPr lang="en-US" sz="2000" dirty="0"/>
            </a:br>
            <a:r>
              <a:rPr lang="en-US" sz="2000" dirty="0"/>
              <a:t>Patient satisfaction scores vary significantly across different age groups and racial demographics, with some groups consistently reporting lower satisfaction.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Recommendation: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Develop targeted patient engagement strategies for age groups and racial demographics showing lower satisfaction scores.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Customize services and communication based on demographic needs to provide a more personalized patient experience.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72611" y="187518"/>
            <a:ext cx="705394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Strategic Recommendations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28525" y="1594591"/>
            <a:ext cx="10561516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3. Optimize Discount Strategy for Improved Patient Retention</a:t>
            </a:r>
            <a:endParaRPr lang="en-US" sz="2000" b="1" dirty="0"/>
          </a:p>
          <a:p>
            <a:endParaRPr lang="en-US" sz="2000" dirty="0"/>
          </a:p>
          <a:p>
            <a:r>
              <a:rPr lang="en-US" sz="2000" b="1" dirty="0"/>
              <a:t>Insight:</a:t>
            </a:r>
            <a:br>
              <a:rPr lang="en-US" sz="2000" dirty="0"/>
            </a:br>
            <a:r>
              <a:rPr lang="en-US" sz="2000" dirty="0"/>
              <a:t>Patients receiving medium to high-level discounts reported higher satisfaction, indicating a positive impact of discounts on patient experience.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Recommendation: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Expand the discount program to include more patients who may benefit from financial incentives, especially those with high out-of-pocket expenses.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Introduce loyalty discounts or follow-up visit discounts to encourage repeat visits and build long-term patient relationships.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72690" y="187325"/>
            <a:ext cx="7054215" cy="4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Final </a:t>
            </a:r>
            <a:r>
              <a:rPr lang="en-US" sz="3600" b="1" dirty="0">
                <a:solidFill>
                  <a:schemeClr val="tx1"/>
                </a:solidFill>
                <a:latin typeface="+mj-lt"/>
                <a:cs typeface="+mj-lt"/>
              </a:rPr>
              <a:t>Dashboard (</a:t>
            </a:r>
            <a:r>
              <a:rPr lang="en-US" sz="2800" b="1" dirty="0">
                <a:solidFill>
                  <a:schemeClr val="tx1"/>
                </a:solidFill>
                <a:latin typeface="+mj-lt"/>
                <a:cs typeface="+mj-lt"/>
              </a:rPr>
              <a:t>Main Tab</a:t>
            </a:r>
            <a:r>
              <a:rPr lang="en-US" sz="3600" b="1" dirty="0">
                <a:solidFill>
                  <a:schemeClr val="tx1"/>
                </a:solidFill>
                <a:latin typeface="+mj-lt"/>
                <a:cs typeface="+mj-lt"/>
              </a:rPr>
              <a:t>)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creenshot 2026-03-30 1352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" y="858520"/>
            <a:ext cx="11877675" cy="575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72690" y="187325"/>
            <a:ext cx="7548245" cy="4178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Final </a:t>
            </a:r>
            <a:r>
              <a:rPr lang="en-US" sz="3600" b="1" dirty="0">
                <a:solidFill>
                  <a:schemeClr val="tx1"/>
                </a:solidFill>
                <a:latin typeface="+mj-lt"/>
                <a:cs typeface="+mj-lt"/>
              </a:rPr>
              <a:t>Dashboard (</a:t>
            </a:r>
            <a:r>
              <a:rPr lang="en-US" sz="2800" b="1" dirty="0">
                <a:solidFill>
                  <a:schemeClr val="tx1"/>
                </a:solidFill>
                <a:latin typeface="+mj-lt"/>
                <a:cs typeface="+mj-lt"/>
              </a:rPr>
              <a:t>Doctor’s Tab</a:t>
            </a:r>
            <a:r>
              <a:rPr lang="en-US" sz="3600" b="1" dirty="0">
                <a:solidFill>
                  <a:schemeClr val="tx1"/>
                </a:solidFill>
                <a:latin typeface="+mj-lt"/>
                <a:cs typeface="+mj-lt"/>
              </a:rPr>
              <a:t>)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858520"/>
            <a:ext cx="11895455" cy="57137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" y="1028065"/>
            <a:ext cx="11907520" cy="55873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51405" y="187325"/>
            <a:ext cx="7249795" cy="596265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+mj-lt"/>
                <a:cs typeface="+mj-lt"/>
              </a:rPr>
              <a:t>Final </a:t>
            </a:r>
            <a:r>
              <a:rPr lang="en-US" sz="3600" b="1" dirty="0">
                <a:solidFill>
                  <a:schemeClr val="tx1"/>
                </a:solidFill>
                <a:latin typeface="+mj-lt"/>
                <a:cs typeface="+mj-lt"/>
              </a:rPr>
              <a:t>Dashboard (</a:t>
            </a:r>
            <a:r>
              <a:rPr lang="en-US" sz="2800" b="1" dirty="0">
                <a:solidFill>
                  <a:schemeClr val="tx1"/>
                </a:solidFill>
                <a:latin typeface="+mj-lt"/>
                <a:cs typeface="+mj-lt"/>
              </a:rPr>
              <a:t>patients Tab</a:t>
            </a:r>
            <a:r>
              <a:rPr lang="en-US" sz="3600" b="1" dirty="0">
                <a:solidFill>
                  <a:schemeClr val="tx1"/>
                </a:solidFill>
                <a:latin typeface="+mj-lt"/>
                <a:cs typeface="+mj-lt"/>
              </a:rPr>
              <a:t>)</a:t>
            </a:r>
            <a:endParaRPr lang="en-IN" sz="36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77960" y="289077"/>
            <a:ext cx="4226768" cy="803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  <a:latin typeface="+mj-lt"/>
                <a:cs typeface="+mj-lt"/>
              </a:rPr>
              <a:t>Conclusion</a:t>
            </a:r>
            <a:endParaRPr lang="en-IN" sz="3600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4327" y="1782147"/>
            <a:ext cx="1061701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By focusing on enhancing the efficiency of high-demand departments and tailoring patient satisfaction initiatives, Columbia Asia Hospital can address the operational challenges impacting patient experience and overall revenue.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Leveraging targeted discount strategies will improve patient retention, especially among cost-sensitive demographics, leading to increased loyalty and long-term engagement.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Strategic improvements in staffing, service customization, and financial incentives will enable Columbia Asia Hospital to elevate patient care standards, boost satisfaction scores, and drive sustained revenue growth.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Consistent implementation of these strategies will not only enhance the hospital’s operational performance but also strengthen its reputation as a preferred healthcare provider.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" y="9331"/>
            <a:ext cx="1936103" cy="77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-you-doctors-and-nurses-vect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9448</Words>
  <Application>WPS Presentation</Application>
  <PresentationFormat>Widescreen</PresentationFormat>
  <Paragraphs>198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SimSun</vt:lpstr>
      <vt:lpstr>Wingdings</vt:lpstr>
      <vt:lpstr>Wingdings 3</vt:lpstr>
      <vt:lpstr>Arial</vt:lpstr>
      <vt:lpstr>Cambria</vt:lpstr>
      <vt:lpstr>Algerian</vt:lpstr>
      <vt:lpstr>Gabriola</vt:lpstr>
      <vt:lpstr>Microsoft YaHei</vt:lpstr>
      <vt:lpstr>Arial Unicode MS</vt:lpstr>
      <vt:lpstr>Calibri</vt:lpstr>
      <vt:lpstr>Bahnschrift Light SemiCondensed</vt:lpstr>
      <vt:lpstr>Calibri Light</vt:lpstr>
      <vt:lpstr>Alatsi</vt:lpstr>
      <vt:lpstr>Segoe Print</vt:lpstr>
      <vt:lpstr>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178120 Vaishnavi Tawde</dc:creator>
  <cp:lastModifiedBy>Admin</cp:lastModifiedBy>
  <cp:revision>8</cp:revision>
  <dcterms:created xsi:type="dcterms:W3CDTF">2024-11-06T18:00:00Z</dcterms:created>
  <dcterms:modified xsi:type="dcterms:W3CDTF">2026-03-30T09:08:25Z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0684C974427B47F6BD9D5F9A95BAB0B5_12</vt:lpwstr>
  </property>
  <property fmtid="{D5CDD505-2E9C-101B-9397-08002B2CF9AE}" pid="3" name="KSOProductBuildVer">
    <vt:lpwstr>1033-12.1.0.25242</vt:lpwstr>
  </property>
</Properties>
</file>